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9" r:id="rId1"/>
  </p:sldMasterIdLst>
  <p:notesMasterIdLst>
    <p:notesMasterId r:id="rId7"/>
  </p:notes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20"/>
  </p:normalViewPr>
  <p:slideViewPr>
    <p:cSldViewPr snapToGrid="0">
      <p:cViewPr>
        <p:scale>
          <a:sx n="128" d="100"/>
          <a:sy n="128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AD5F8FD-BF22-F144-925A-1649651F43BE}" type="doc">
      <dgm:prSet loTypeId="urn:microsoft.com/office/officeart/2005/8/layout/hProcess6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6072B141-39B2-DD40-B9A9-D926ADDFDC17}">
      <dgm:prSet phldrT="[文本]" custT="1"/>
      <dgm:spPr/>
      <dgm:t>
        <a:bodyPr/>
        <a:lstStyle/>
        <a:p>
          <a:pPr>
            <a:buNone/>
          </a:pPr>
          <a:r>
            <a:rPr lang="zh-CN" sz="1200" i="0" dirty="0"/>
            <a:t>Intriguing Properties of Neural Networks </a:t>
          </a:r>
          <a:br>
            <a:rPr lang="en-US" altLang="zh-CN" sz="1000" i="0" dirty="0"/>
          </a:br>
          <a:r>
            <a:rPr lang="zh-CN" sz="700" b="1" i="0" dirty="0"/>
            <a:t>Szegedy et al. (2014) </a:t>
          </a:r>
          <a:endParaRPr lang="zh-CN" altLang="en-US" sz="1000" i="0" dirty="0"/>
        </a:p>
      </dgm:t>
    </dgm:pt>
    <dgm:pt modelId="{C933508A-92D3-8749-989E-FBDEE79A3FA7}" type="parTrans" cxnId="{A523B873-220B-F24A-B88F-B2B3FA2B96B1}">
      <dgm:prSet/>
      <dgm:spPr/>
      <dgm:t>
        <a:bodyPr/>
        <a:lstStyle/>
        <a:p>
          <a:endParaRPr lang="zh-CN" altLang="en-US"/>
        </a:p>
      </dgm:t>
    </dgm:pt>
    <dgm:pt modelId="{EEF88ED6-F6E0-4F4B-8BB5-2F071B16633E}" type="sibTrans" cxnId="{A523B873-220B-F24A-B88F-B2B3FA2B96B1}">
      <dgm:prSet/>
      <dgm:spPr/>
      <dgm:t>
        <a:bodyPr/>
        <a:lstStyle/>
        <a:p>
          <a:endParaRPr lang="zh-CN" altLang="en-US"/>
        </a:p>
      </dgm:t>
    </dgm:pt>
    <dgm:pt modelId="{3049AFDF-B384-CA4B-B7BD-49CB0C56FFAE}">
      <dgm:prSet phldrT="[文本]"/>
      <dgm:spPr/>
      <dgm:t>
        <a:bodyPr/>
        <a:lstStyle/>
        <a:p>
          <a:pPr algn="l">
            <a:buNone/>
          </a:pPr>
          <a:r>
            <a:rPr lang="zh-CN" dirty="0"/>
            <a:t>First to discover</a:t>
          </a:r>
          <a:r>
            <a:rPr lang="en-US" altLang="zh-CN" dirty="0"/>
            <a:t> </a:t>
          </a:r>
          <a:r>
            <a:rPr lang="zh-CN" dirty="0"/>
            <a:t>adversarial examples. </a:t>
          </a:r>
          <a:r>
            <a:rPr lang="en-US" altLang="zh-CN" dirty="0"/>
            <a:t>I</a:t>
          </a:r>
          <a:r>
            <a:rPr lang="zh-CN" dirty="0"/>
            <a:t>nvisible</a:t>
          </a:r>
          <a:r>
            <a:rPr lang="en-US" altLang="zh-CN" dirty="0"/>
            <a:t> </a:t>
          </a:r>
          <a:r>
            <a:rPr lang="zh-CN" dirty="0"/>
            <a:t>perturbations cause confident misclassification.</a:t>
          </a:r>
          <a:br>
            <a:rPr lang="zh-CN" dirty="0"/>
          </a:br>
          <a:r>
            <a:rPr lang="zh-CN" dirty="0"/>
            <a:t>Motivated the entire field. </a:t>
          </a:r>
          <a:endParaRPr lang="zh-CN" altLang="en-US" dirty="0"/>
        </a:p>
      </dgm:t>
    </dgm:pt>
    <dgm:pt modelId="{BC428EC8-A684-1246-90FB-E19B4E6239E1}" type="parTrans" cxnId="{1CA17B10-52DE-7A4D-93C8-D66856A0ADAD}">
      <dgm:prSet/>
      <dgm:spPr/>
      <dgm:t>
        <a:bodyPr/>
        <a:lstStyle/>
        <a:p>
          <a:endParaRPr lang="zh-CN" altLang="en-US"/>
        </a:p>
      </dgm:t>
    </dgm:pt>
    <dgm:pt modelId="{777953DA-EC58-644D-ACCA-76039E74CA95}" type="sibTrans" cxnId="{1CA17B10-52DE-7A4D-93C8-D66856A0ADAD}">
      <dgm:prSet/>
      <dgm:spPr/>
      <dgm:t>
        <a:bodyPr/>
        <a:lstStyle/>
        <a:p>
          <a:endParaRPr lang="zh-CN" altLang="en-US"/>
        </a:p>
      </dgm:t>
    </dgm:pt>
    <dgm:pt modelId="{E17E4BCE-40E8-4341-AA4D-84B693D204AA}">
      <dgm:prSet phldrT="[文本]" custT="1"/>
      <dgm:spPr/>
      <dgm:t>
        <a:bodyPr/>
        <a:lstStyle/>
        <a:p>
          <a:pPr>
            <a:buNone/>
          </a:pPr>
          <a:r>
            <a:rPr lang="zh-CN" sz="1100" b="1" i="0" dirty="0"/>
            <a:t>Explaining and Harnessing Adversarial Examples </a:t>
          </a:r>
          <a:endParaRPr lang="en-US" altLang="zh-CN" sz="1100" b="1" i="0" dirty="0"/>
        </a:p>
        <a:p>
          <a:pPr>
            <a:buNone/>
          </a:pPr>
          <a:r>
            <a:rPr lang="zh-CN" sz="700" b="1" dirty="0"/>
            <a:t>Goodfellow et al. (2015) </a:t>
          </a:r>
          <a:endParaRPr lang="zh-CN" altLang="en-US" sz="700" b="1" i="0" dirty="0"/>
        </a:p>
      </dgm:t>
    </dgm:pt>
    <dgm:pt modelId="{51F02A9A-3810-554C-9AA8-E62AB5F2EF4A}" type="parTrans" cxnId="{17E1FC0F-3497-BC41-B03A-5688D3749A8B}">
      <dgm:prSet/>
      <dgm:spPr/>
      <dgm:t>
        <a:bodyPr/>
        <a:lstStyle/>
        <a:p>
          <a:endParaRPr lang="zh-CN" altLang="en-US"/>
        </a:p>
      </dgm:t>
    </dgm:pt>
    <dgm:pt modelId="{85EFDF45-A6F2-2242-AC56-2AD40C571783}" type="sibTrans" cxnId="{17E1FC0F-3497-BC41-B03A-5688D3749A8B}">
      <dgm:prSet/>
      <dgm:spPr/>
      <dgm:t>
        <a:bodyPr/>
        <a:lstStyle/>
        <a:p>
          <a:endParaRPr lang="zh-CN" altLang="en-US"/>
        </a:p>
      </dgm:t>
    </dgm:pt>
    <dgm:pt modelId="{696734EC-2844-624A-A9CD-5AE33FB2CD96}">
      <dgm:prSet phldrT="[文本]"/>
      <dgm:spPr/>
      <dgm:t>
        <a:bodyPr/>
        <a:lstStyle/>
        <a:p>
          <a:pPr algn="l">
            <a:buNone/>
          </a:pPr>
          <a:r>
            <a:rPr lang="zh-CN" dirty="0"/>
            <a:t>Proposed FGSM — single-step attack. Vulnerability stems from the</a:t>
          </a:r>
          <a:r>
            <a:rPr lang="zh-CN" altLang="en-US" dirty="0"/>
            <a:t> </a:t>
          </a:r>
          <a:r>
            <a:rPr lang="zh-CN" dirty="0"/>
            <a:t>linear nature of neural networks.</a:t>
          </a:r>
          <a:br>
            <a:rPr lang="zh-CN" dirty="0"/>
          </a:br>
          <a:r>
            <a:rPr lang="zh-CN" dirty="0"/>
            <a:t>First basic adversarial training idea. </a:t>
          </a:r>
          <a:endParaRPr lang="zh-CN" altLang="en-US" dirty="0"/>
        </a:p>
      </dgm:t>
    </dgm:pt>
    <dgm:pt modelId="{201557BE-ECD8-444E-AABB-73AB215039E5}" type="parTrans" cxnId="{4B3FBBD6-CB4A-2445-AA63-D50C15B76E21}">
      <dgm:prSet/>
      <dgm:spPr/>
      <dgm:t>
        <a:bodyPr/>
        <a:lstStyle/>
        <a:p>
          <a:endParaRPr lang="zh-CN" altLang="en-US"/>
        </a:p>
      </dgm:t>
    </dgm:pt>
    <dgm:pt modelId="{2785863D-666C-7B48-A9FE-1D5D0BCC6B37}" type="sibTrans" cxnId="{4B3FBBD6-CB4A-2445-AA63-D50C15B76E21}">
      <dgm:prSet/>
      <dgm:spPr/>
      <dgm:t>
        <a:bodyPr/>
        <a:lstStyle/>
        <a:p>
          <a:endParaRPr lang="zh-CN" altLang="en-US"/>
        </a:p>
      </dgm:t>
    </dgm:pt>
    <dgm:pt modelId="{72590A63-3C55-1246-A77C-BA76CBB44F3D}">
      <dgm:prSet phldrT="[文本]" custT="1"/>
      <dgm:spPr/>
      <dgm:t>
        <a:bodyPr/>
        <a:lstStyle/>
        <a:p>
          <a:pPr>
            <a:buNone/>
          </a:pPr>
          <a:r>
            <a:rPr lang="zh-CN" sz="1100" i="0" dirty="0"/>
            <a:t>Towards Deep Learning Models Resistant to Adversarial Attacks </a:t>
          </a:r>
          <a:endParaRPr lang="en-US" altLang="zh-CN" sz="1100" i="0" dirty="0"/>
        </a:p>
        <a:p>
          <a:pPr>
            <a:buNone/>
          </a:pPr>
          <a:r>
            <a:rPr lang="zh-CN" sz="700" b="1" dirty="0"/>
            <a:t>Madry et al. (2018) </a:t>
          </a:r>
          <a:endParaRPr lang="zh-CN" altLang="en-US" sz="700" dirty="0"/>
        </a:p>
      </dgm:t>
    </dgm:pt>
    <dgm:pt modelId="{7E3987BD-14B6-5E4E-9C4B-2CF96925C774}" type="parTrans" cxnId="{A11D35A5-55B9-3244-AF53-996D6CAA5ED8}">
      <dgm:prSet/>
      <dgm:spPr/>
      <dgm:t>
        <a:bodyPr/>
        <a:lstStyle/>
        <a:p>
          <a:endParaRPr lang="zh-CN" altLang="en-US"/>
        </a:p>
      </dgm:t>
    </dgm:pt>
    <dgm:pt modelId="{52507004-2237-134D-9529-FF906F65ADA8}" type="sibTrans" cxnId="{A11D35A5-55B9-3244-AF53-996D6CAA5ED8}">
      <dgm:prSet/>
      <dgm:spPr/>
      <dgm:t>
        <a:bodyPr/>
        <a:lstStyle/>
        <a:p>
          <a:endParaRPr lang="zh-CN" altLang="en-US"/>
        </a:p>
      </dgm:t>
    </dgm:pt>
    <dgm:pt modelId="{FA480198-1132-DF48-92DC-2D33AFC49481}">
      <dgm:prSet phldrT="[文本]"/>
      <dgm:spPr/>
      <dgm:t>
        <a:bodyPr/>
        <a:lstStyle/>
        <a:p>
          <a:pPr algn="l">
            <a:buNone/>
          </a:pPr>
          <a:r>
            <a:rPr lang="zh-CN" dirty="0"/>
            <a:t>Robustness as min-max optimization. PGD = strongest first-order attack.</a:t>
          </a:r>
          <a:br>
            <a:rPr lang="zh-CN" dirty="0"/>
          </a:br>
          <a:r>
            <a:rPr lang="zh-CN" dirty="0"/>
            <a:t>PGD adversarial training is the</a:t>
          </a:r>
          <a:br>
            <a:rPr lang="zh-CN" dirty="0"/>
          </a:br>
          <a:r>
            <a:rPr lang="zh-CN" dirty="0"/>
            <a:t>gold standard defense. </a:t>
          </a:r>
          <a:endParaRPr lang="zh-CN" altLang="en-US" dirty="0"/>
        </a:p>
      </dgm:t>
    </dgm:pt>
    <dgm:pt modelId="{B5E9EB59-4FA5-434B-8FD4-DB2A07D1149C}" type="parTrans" cxnId="{92110E15-C753-0A47-9835-187B2097D9C6}">
      <dgm:prSet/>
      <dgm:spPr/>
      <dgm:t>
        <a:bodyPr/>
        <a:lstStyle/>
        <a:p>
          <a:endParaRPr lang="zh-CN" altLang="en-US"/>
        </a:p>
      </dgm:t>
    </dgm:pt>
    <dgm:pt modelId="{F696BDAA-897C-2044-920E-979AE4A790C8}" type="sibTrans" cxnId="{92110E15-C753-0A47-9835-187B2097D9C6}">
      <dgm:prSet/>
      <dgm:spPr/>
      <dgm:t>
        <a:bodyPr/>
        <a:lstStyle/>
        <a:p>
          <a:endParaRPr lang="zh-CN" altLang="en-US"/>
        </a:p>
      </dgm:t>
    </dgm:pt>
    <dgm:pt modelId="{7E35FAE4-DE92-8644-8BB0-B3A2410D7B5E}" type="pres">
      <dgm:prSet presAssocID="{FAD5F8FD-BF22-F144-925A-1649651F43BE}" presName="theList" presStyleCnt="0">
        <dgm:presLayoutVars>
          <dgm:dir/>
          <dgm:animLvl val="lvl"/>
          <dgm:resizeHandles val="exact"/>
        </dgm:presLayoutVars>
      </dgm:prSet>
      <dgm:spPr/>
    </dgm:pt>
    <dgm:pt modelId="{819A48DD-ED7C-604E-8D83-DB380BE31561}" type="pres">
      <dgm:prSet presAssocID="{6072B141-39B2-DD40-B9A9-D926ADDFDC17}" presName="compNode" presStyleCnt="0"/>
      <dgm:spPr/>
    </dgm:pt>
    <dgm:pt modelId="{17B8FDAF-07C9-0443-B703-775AC3044ECF}" type="pres">
      <dgm:prSet presAssocID="{6072B141-39B2-DD40-B9A9-D926ADDFDC17}" presName="noGeometry" presStyleCnt="0"/>
      <dgm:spPr/>
    </dgm:pt>
    <dgm:pt modelId="{1B183197-B5D0-B74B-B29F-0F20BE691570}" type="pres">
      <dgm:prSet presAssocID="{6072B141-39B2-DD40-B9A9-D926ADDFDC17}" presName="childTextVisible" presStyleLbl="bgAccFollowNode1" presStyleIdx="0" presStyleCnt="3">
        <dgm:presLayoutVars>
          <dgm:bulletEnabled val="1"/>
        </dgm:presLayoutVars>
      </dgm:prSet>
      <dgm:spPr/>
    </dgm:pt>
    <dgm:pt modelId="{9D2E5413-F62C-4443-A346-31A46259359B}" type="pres">
      <dgm:prSet presAssocID="{6072B141-39B2-DD40-B9A9-D926ADDFDC17}" presName="childTextHidden" presStyleLbl="bgAccFollowNode1" presStyleIdx="0" presStyleCnt="3"/>
      <dgm:spPr/>
    </dgm:pt>
    <dgm:pt modelId="{D1496CAC-3779-B446-8774-433F89D21348}" type="pres">
      <dgm:prSet presAssocID="{6072B141-39B2-DD40-B9A9-D926ADDFDC17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85769BD1-A9BD-4643-BBDB-7A1A29B97082}" type="pres">
      <dgm:prSet presAssocID="{6072B141-39B2-DD40-B9A9-D926ADDFDC17}" presName="aSpace" presStyleCnt="0"/>
      <dgm:spPr/>
    </dgm:pt>
    <dgm:pt modelId="{F36A8759-96F3-474D-B68F-44DE0D3176D9}" type="pres">
      <dgm:prSet presAssocID="{E17E4BCE-40E8-4341-AA4D-84B693D204AA}" presName="compNode" presStyleCnt="0"/>
      <dgm:spPr/>
    </dgm:pt>
    <dgm:pt modelId="{47B88E1D-BE4C-9246-966B-9E7049E53490}" type="pres">
      <dgm:prSet presAssocID="{E17E4BCE-40E8-4341-AA4D-84B693D204AA}" presName="noGeometry" presStyleCnt="0"/>
      <dgm:spPr/>
    </dgm:pt>
    <dgm:pt modelId="{4682D06C-82FA-D54D-A4F9-3BF1B3C62CBE}" type="pres">
      <dgm:prSet presAssocID="{E17E4BCE-40E8-4341-AA4D-84B693D204AA}" presName="childTextVisible" presStyleLbl="bgAccFollowNode1" presStyleIdx="1" presStyleCnt="3">
        <dgm:presLayoutVars>
          <dgm:bulletEnabled val="1"/>
        </dgm:presLayoutVars>
      </dgm:prSet>
      <dgm:spPr/>
    </dgm:pt>
    <dgm:pt modelId="{A38495FC-5418-A84E-9FAB-EF032873E3E9}" type="pres">
      <dgm:prSet presAssocID="{E17E4BCE-40E8-4341-AA4D-84B693D204AA}" presName="childTextHidden" presStyleLbl="bgAccFollowNode1" presStyleIdx="1" presStyleCnt="3"/>
      <dgm:spPr/>
    </dgm:pt>
    <dgm:pt modelId="{F079A2EF-C0DE-2648-90CA-275C60FDA728}" type="pres">
      <dgm:prSet presAssocID="{E17E4BCE-40E8-4341-AA4D-84B693D204AA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7C60851C-E43F-DE4C-932D-93645D50A40F}" type="pres">
      <dgm:prSet presAssocID="{E17E4BCE-40E8-4341-AA4D-84B693D204AA}" presName="aSpace" presStyleCnt="0"/>
      <dgm:spPr/>
    </dgm:pt>
    <dgm:pt modelId="{17E7CB39-7E70-0F40-A555-F0595B3980FB}" type="pres">
      <dgm:prSet presAssocID="{72590A63-3C55-1246-A77C-BA76CBB44F3D}" presName="compNode" presStyleCnt="0"/>
      <dgm:spPr/>
    </dgm:pt>
    <dgm:pt modelId="{298690F5-A66C-DF4B-8A5C-11594C38AFEA}" type="pres">
      <dgm:prSet presAssocID="{72590A63-3C55-1246-A77C-BA76CBB44F3D}" presName="noGeometry" presStyleCnt="0"/>
      <dgm:spPr/>
    </dgm:pt>
    <dgm:pt modelId="{78CF5539-A1F7-104B-AA59-784B525F1405}" type="pres">
      <dgm:prSet presAssocID="{72590A63-3C55-1246-A77C-BA76CBB44F3D}" presName="childTextVisible" presStyleLbl="bgAccFollowNode1" presStyleIdx="2" presStyleCnt="3">
        <dgm:presLayoutVars>
          <dgm:bulletEnabled val="1"/>
        </dgm:presLayoutVars>
      </dgm:prSet>
      <dgm:spPr/>
    </dgm:pt>
    <dgm:pt modelId="{CAD1CB97-5A00-CB40-BEC4-096FB6DCCFB9}" type="pres">
      <dgm:prSet presAssocID="{72590A63-3C55-1246-A77C-BA76CBB44F3D}" presName="childTextHidden" presStyleLbl="bgAccFollowNode1" presStyleIdx="2" presStyleCnt="3"/>
      <dgm:spPr/>
    </dgm:pt>
    <dgm:pt modelId="{288F7EDC-E660-754B-81EA-14097FF690BC}" type="pres">
      <dgm:prSet presAssocID="{72590A63-3C55-1246-A77C-BA76CBB44F3D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17E1FC0F-3497-BC41-B03A-5688D3749A8B}" srcId="{FAD5F8FD-BF22-F144-925A-1649651F43BE}" destId="{E17E4BCE-40E8-4341-AA4D-84B693D204AA}" srcOrd="1" destOrd="0" parTransId="{51F02A9A-3810-554C-9AA8-E62AB5F2EF4A}" sibTransId="{85EFDF45-A6F2-2242-AC56-2AD40C571783}"/>
    <dgm:cxn modelId="{1CA17B10-52DE-7A4D-93C8-D66856A0ADAD}" srcId="{6072B141-39B2-DD40-B9A9-D926ADDFDC17}" destId="{3049AFDF-B384-CA4B-B7BD-49CB0C56FFAE}" srcOrd="0" destOrd="0" parTransId="{BC428EC8-A684-1246-90FB-E19B4E6239E1}" sibTransId="{777953DA-EC58-644D-ACCA-76039E74CA95}"/>
    <dgm:cxn modelId="{92110E15-C753-0A47-9835-187B2097D9C6}" srcId="{72590A63-3C55-1246-A77C-BA76CBB44F3D}" destId="{FA480198-1132-DF48-92DC-2D33AFC49481}" srcOrd="0" destOrd="0" parTransId="{B5E9EB59-4FA5-434B-8FD4-DB2A07D1149C}" sibTransId="{F696BDAA-897C-2044-920E-979AE4A790C8}"/>
    <dgm:cxn modelId="{9FA13125-0ECD-7649-A1E7-F990EE9C0383}" type="presOf" srcId="{FA480198-1132-DF48-92DC-2D33AFC49481}" destId="{78CF5539-A1F7-104B-AA59-784B525F1405}" srcOrd="0" destOrd="0" presId="urn:microsoft.com/office/officeart/2005/8/layout/hProcess6"/>
    <dgm:cxn modelId="{49748542-4925-394F-8701-C344C35D9711}" type="presOf" srcId="{6072B141-39B2-DD40-B9A9-D926ADDFDC17}" destId="{D1496CAC-3779-B446-8774-433F89D21348}" srcOrd="0" destOrd="0" presId="urn:microsoft.com/office/officeart/2005/8/layout/hProcess6"/>
    <dgm:cxn modelId="{198C2D4C-294A-0044-A26E-6F2C800742D5}" type="presOf" srcId="{FAD5F8FD-BF22-F144-925A-1649651F43BE}" destId="{7E35FAE4-DE92-8644-8BB0-B3A2410D7B5E}" srcOrd="0" destOrd="0" presId="urn:microsoft.com/office/officeart/2005/8/layout/hProcess6"/>
    <dgm:cxn modelId="{A523B873-220B-F24A-B88F-B2B3FA2B96B1}" srcId="{FAD5F8FD-BF22-F144-925A-1649651F43BE}" destId="{6072B141-39B2-DD40-B9A9-D926ADDFDC17}" srcOrd="0" destOrd="0" parTransId="{C933508A-92D3-8749-989E-FBDEE79A3FA7}" sibTransId="{EEF88ED6-F6E0-4F4B-8BB5-2F071B16633E}"/>
    <dgm:cxn modelId="{37235EA0-2F7A-0B4D-BE78-DE52C79E0113}" type="presOf" srcId="{E17E4BCE-40E8-4341-AA4D-84B693D204AA}" destId="{F079A2EF-C0DE-2648-90CA-275C60FDA728}" srcOrd="0" destOrd="0" presId="urn:microsoft.com/office/officeart/2005/8/layout/hProcess6"/>
    <dgm:cxn modelId="{A11D35A5-55B9-3244-AF53-996D6CAA5ED8}" srcId="{FAD5F8FD-BF22-F144-925A-1649651F43BE}" destId="{72590A63-3C55-1246-A77C-BA76CBB44F3D}" srcOrd="2" destOrd="0" parTransId="{7E3987BD-14B6-5E4E-9C4B-2CF96925C774}" sibTransId="{52507004-2237-134D-9529-FF906F65ADA8}"/>
    <dgm:cxn modelId="{8C31C5BA-FD66-E14C-82F9-91C6E51C0933}" type="presOf" srcId="{3049AFDF-B384-CA4B-B7BD-49CB0C56FFAE}" destId="{9D2E5413-F62C-4443-A346-31A46259359B}" srcOrd="1" destOrd="0" presId="urn:microsoft.com/office/officeart/2005/8/layout/hProcess6"/>
    <dgm:cxn modelId="{F3DC2AC4-23B2-674D-9216-1637EE34D151}" type="presOf" srcId="{696734EC-2844-624A-A9CD-5AE33FB2CD96}" destId="{A38495FC-5418-A84E-9FAB-EF032873E3E9}" srcOrd="1" destOrd="0" presId="urn:microsoft.com/office/officeart/2005/8/layout/hProcess6"/>
    <dgm:cxn modelId="{4B3FBBD6-CB4A-2445-AA63-D50C15B76E21}" srcId="{E17E4BCE-40E8-4341-AA4D-84B693D204AA}" destId="{696734EC-2844-624A-A9CD-5AE33FB2CD96}" srcOrd="0" destOrd="0" parTransId="{201557BE-ECD8-444E-AABB-73AB215039E5}" sibTransId="{2785863D-666C-7B48-A9FE-1D5D0BCC6B37}"/>
    <dgm:cxn modelId="{507BC3D9-6666-8849-A3FB-B7F9A58C0828}" type="presOf" srcId="{3049AFDF-B384-CA4B-B7BD-49CB0C56FFAE}" destId="{1B183197-B5D0-B74B-B29F-0F20BE691570}" srcOrd="0" destOrd="0" presId="urn:microsoft.com/office/officeart/2005/8/layout/hProcess6"/>
    <dgm:cxn modelId="{322307E3-25EB-8241-8061-36A78479537D}" type="presOf" srcId="{72590A63-3C55-1246-A77C-BA76CBB44F3D}" destId="{288F7EDC-E660-754B-81EA-14097FF690BC}" srcOrd="0" destOrd="0" presId="urn:microsoft.com/office/officeart/2005/8/layout/hProcess6"/>
    <dgm:cxn modelId="{5DC810F0-D5B4-A645-AFEB-E9120ABACD2B}" type="presOf" srcId="{696734EC-2844-624A-A9CD-5AE33FB2CD96}" destId="{4682D06C-82FA-D54D-A4F9-3BF1B3C62CBE}" srcOrd="0" destOrd="0" presId="urn:microsoft.com/office/officeart/2005/8/layout/hProcess6"/>
    <dgm:cxn modelId="{4B8C8CF2-15A0-1D40-92BA-7CAB2B4614AB}" type="presOf" srcId="{FA480198-1132-DF48-92DC-2D33AFC49481}" destId="{CAD1CB97-5A00-CB40-BEC4-096FB6DCCFB9}" srcOrd="1" destOrd="0" presId="urn:microsoft.com/office/officeart/2005/8/layout/hProcess6"/>
    <dgm:cxn modelId="{ED42A49B-1746-C142-8F3E-ADF0E775EAC2}" type="presParOf" srcId="{7E35FAE4-DE92-8644-8BB0-B3A2410D7B5E}" destId="{819A48DD-ED7C-604E-8D83-DB380BE31561}" srcOrd="0" destOrd="0" presId="urn:microsoft.com/office/officeart/2005/8/layout/hProcess6"/>
    <dgm:cxn modelId="{2D373A36-8C3D-A145-A3AF-89316051DEC5}" type="presParOf" srcId="{819A48DD-ED7C-604E-8D83-DB380BE31561}" destId="{17B8FDAF-07C9-0443-B703-775AC3044ECF}" srcOrd="0" destOrd="0" presId="urn:microsoft.com/office/officeart/2005/8/layout/hProcess6"/>
    <dgm:cxn modelId="{63567DA4-9D2E-8A4D-AB1B-6EC91B11898B}" type="presParOf" srcId="{819A48DD-ED7C-604E-8D83-DB380BE31561}" destId="{1B183197-B5D0-B74B-B29F-0F20BE691570}" srcOrd="1" destOrd="0" presId="urn:microsoft.com/office/officeart/2005/8/layout/hProcess6"/>
    <dgm:cxn modelId="{F54CCDA5-80CC-1041-AFAB-9957F14CA857}" type="presParOf" srcId="{819A48DD-ED7C-604E-8D83-DB380BE31561}" destId="{9D2E5413-F62C-4443-A346-31A46259359B}" srcOrd="2" destOrd="0" presId="urn:microsoft.com/office/officeart/2005/8/layout/hProcess6"/>
    <dgm:cxn modelId="{009C9FDA-1F3D-7D4F-BE72-B9DAE4B83CD9}" type="presParOf" srcId="{819A48DD-ED7C-604E-8D83-DB380BE31561}" destId="{D1496CAC-3779-B446-8774-433F89D21348}" srcOrd="3" destOrd="0" presId="urn:microsoft.com/office/officeart/2005/8/layout/hProcess6"/>
    <dgm:cxn modelId="{7DD3AEC2-4275-6742-A379-A5A61CEAA03C}" type="presParOf" srcId="{7E35FAE4-DE92-8644-8BB0-B3A2410D7B5E}" destId="{85769BD1-A9BD-4643-BBDB-7A1A29B97082}" srcOrd="1" destOrd="0" presId="urn:microsoft.com/office/officeart/2005/8/layout/hProcess6"/>
    <dgm:cxn modelId="{7CB44B04-B174-BB4F-935A-311F777642FC}" type="presParOf" srcId="{7E35FAE4-DE92-8644-8BB0-B3A2410D7B5E}" destId="{F36A8759-96F3-474D-B68F-44DE0D3176D9}" srcOrd="2" destOrd="0" presId="urn:microsoft.com/office/officeart/2005/8/layout/hProcess6"/>
    <dgm:cxn modelId="{0B7F1197-8EE8-D545-81F4-8D0F702868AA}" type="presParOf" srcId="{F36A8759-96F3-474D-B68F-44DE0D3176D9}" destId="{47B88E1D-BE4C-9246-966B-9E7049E53490}" srcOrd="0" destOrd="0" presId="urn:microsoft.com/office/officeart/2005/8/layout/hProcess6"/>
    <dgm:cxn modelId="{196C3BF4-8B0F-A24F-B914-B4CE0BADED1B}" type="presParOf" srcId="{F36A8759-96F3-474D-B68F-44DE0D3176D9}" destId="{4682D06C-82FA-D54D-A4F9-3BF1B3C62CBE}" srcOrd="1" destOrd="0" presId="urn:microsoft.com/office/officeart/2005/8/layout/hProcess6"/>
    <dgm:cxn modelId="{C35F454A-C7BC-6C4A-91E9-058F57EEBE4F}" type="presParOf" srcId="{F36A8759-96F3-474D-B68F-44DE0D3176D9}" destId="{A38495FC-5418-A84E-9FAB-EF032873E3E9}" srcOrd="2" destOrd="0" presId="urn:microsoft.com/office/officeart/2005/8/layout/hProcess6"/>
    <dgm:cxn modelId="{2E75B32A-165B-F749-A390-48DE064726D2}" type="presParOf" srcId="{F36A8759-96F3-474D-B68F-44DE0D3176D9}" destId="{F079A2EF-C0DE-2648-90CA-275C60FDA728}" srcOrd="3" destOrd="0" presId="urn:microsoft.com/office/officeart/2005/8/layout/hProcess6"/>
    <dgm:cxn modelId="{AA90B4A9-E89A-B84B-A975-48610C43B474}" type="presParOf" srcId="{7E35FAE4-DE92-8644-8BB0-B3A2410D7B5E}" destId="{7C60851C-E43F-DE4C-932D-93645D50A40F}" srcOrd="3" destOrd="0" presId="urn:microsoft.com/office/officeart/2005/8/layout/hProcess6"/>
    <dgm:cxn modelId="{721BF464-8E17-944B-BD5C-0EA0EEFDB08F}" type="presParOf" srcId="{7E35FAE4-DE92-8644-8BB0-B3A2410D7B5E}" destId="{17E7CB39-7E70-0F40-A555-F0595B3980FB}" srcOrd="4" destOrd="0" presId="urn:microsoft.com/office/officeart/2005/8/layout/hProcess6"/>
    <dgm:cxn modelId="{2E038465-1154-304D-999E-D8168A82FCB6}" type="presParOf" srcId="{17E7CB39-7E70-0F40-A555-F0595B3980FB}" destId="{298690F5-A66C-DF4B-8A5C-11594C38AFEA}" srcOrd="0" destOrd="0" presId="urn:microsoft.com/office/officeart/2005/8/layout/hProcess6"/>
    <dgm:cxn modelId="{AE5AC702-DE54-C043-9E3C-5C74E7A625B0}" type="presParOf" srcId="{17E7CB39-7E70-0F40-A555-F0595B3980FB}" destId="{78CF5539-A1F7-104B-AA59-784B525F1405}" srcOrd="1" destOrd="0" presId="urn:microsoft.com/office/officeart/2005/8/layout/hProcess6"/>
    <dgm:cxn modelId="{D0BB79AF-2E27-E649-90F0-7CF258E393BD}" type="presParOf" srcId="{17E7CB39-7E70-0F40-A555-F0595B3980FB}" destId="{CAD1CB97-5A00-CB40-BEC4-096FB6DCCFB9}" srcOrd="2" destOrd="0" presId="urn:microsoft.com/office/officeart/2005/8/layout/hProcess6"/>
    <dgm:cxn modelId="{94BBC15B-C627-7042-8A59-5BD61AAB7395}" type="presParOf" srcId="{17E7CB39-7E70-0F40-A555-F0595B3980FB}" destId="{288F7EDC-E660-754B-81EA-14097FF690BC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183197-B5D0-B74B-B29F-0F20BE691570}">
      <dsp:nvSpPr>
        <dsp:cNvPr id="0" name=""/>
        <dsp:cNvSpPr/>
      </dsp:nvSpPr>
      <dsp:spPr>
        <a:xfrm>
          <a:off x="770035" y="2808524"/>
          <a:ext cx="3056981" cy="2672186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6985" rIns="13970" bIns="6985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100" kern="1200" dirty="0"/>
            <a:t>First to discover</a:t>
          </a:r>
          <a:r>
            <a:rPr lang="en-US" altLang="zh-CN" sz="1100" kern="1200" dirty="0"/>
            <a:t> </a:t>
          </a:r>
          <a:r>
            <a:rPr lang="zh-CN" sz="1100" kern="1200" dirty="0"/>
            <a:t>adversarial examples. </a:t>
          </a:r>
          <a:r>
            <a:rPr lang="en-US" altLang="zh-CN" sz="1100" kern="1200" dirty="0"/>
            <a:t>I</a:t>
          </a:r>
          <a:r>
            <a:rPr lang="zh-CN" sz="1100" kern="1200" dirty="0"/>
            <a:t>nvisible</a:t>
          </a:r>
          <a:r>
            <a:rPr lang="en-US" altLang="zh-CN" sz="1100" kern="1200" dirty="0"/>
            <a:t> </a:t>
          </a:r>
          <a:r>
            <a:rPr lang="zh-CN" sz="1100" kern="1200" dirty="0"/>
            <a:t>perturbations cause confident misclassification.</a:t>
          </a:r>
          <a:br>
            <a:rPr lang="zh-CN" sz="1100" kern="1200" dirty="0"/>
          </a:br>
          <a:r>
            <a:rPr lang="zh-CN" sz="1100" kern="1200" dirty="0"/>
            <a:t>Motivated the entire field. </a:t>
          </a:r>
          <a:endParaRPr lang="zh-CN" altLang="en-US" sz="1100" kern="1200" dirty="0"/>
        </a:p>
      </dsp:txBody>
      <dsp:txXfrm>
        <a:off x="1534280" y="3209352"/>
        <a:ext cx="1490278" cy="1870530"/>
      </dsp:txXfrm>
    </dsp:sp>
    <dsp:sp modelId="{D1496CAC-3779-B446-8774-433F89D21348}">
      <dsp:nvSpPr>
        <dsp:cNvPr id="0" name=""/>
        <dsp:cNvSpPr/>
      </dsp:nvSpPr>
      <dsp:spPr>
        <a:xfrm>
          <a:off x="5789" y="3380372"/>
          <a:ext cx="1528490" cy="152849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200" i="0" kern="1200" dirty="0"/>
            <a:t>Intriguing Properties of Neural Networks </a:t>
          </a:r>
          <a:br>
            <a:rPr lang="en-US" altLang="zh-CN" sz="1000" i="0" kern="1200" dirty="0"/>
          </a:br>
          <a:r>
            <a:rPr lang="zh-CN" sz="700" b="1" i="0" kern="1200" dirty="0"/>
            <a:t>Szegedy et al. (2014) </a:t>
          </a:r>
          <a:endParaRPr lang="zh-CN" altLang="en-US" sz="1000" i="0" kern="1200" dirty="0"/>
        </a:p>
      </dsp:txBody>
      <dsp:txXfrm>
        <a:off x="229631" y="3604214"/>
        <a:ext cx="1080806" cy="1080806"/>
      </dsp:txXfrm>
    </dsp:sp>
    <dsp:sp modelId="{4682D06C-82FA-D54D-A4F9-3BF1B3C62CBE}">
      <dsp:nvSpPr>
        <dsp:cNvPr id="0" name=""/>
        <dsp:cNvSpPr/>
      </dsp:nvSpPr>
      <dsp:spPr>
        <a:xfrm>
          <a:off x="4782323" y="2808524"/>
          <a:ext cx="3056981" cy="2672186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6985" rIns="13970" bIns="6985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100" kern="1200" dirty="0"/>
            <a:t>Proposed FGSM — single-step attack. Vulnerability stems from the</a:t>
          </a:r>
          <a:r>
            <a:rPr lang="zh-CN" altLang="en-US" sz="1100" kern="1200" dirty="0"/>
            <a:t> </a:t>
          </a:r>
          <a:r>
            <a:rPr lang="zh-CN" sz="1100" kern="1200" dirty="0"/>
            <a:t>linear nature of neural networks.</a:t>
          </a:r>
          <a:br>
            <a:rPr lang="zh-CN" sz="1100" kern="1200" dirty="0"/>
          </a:br>
          <a:r>
            <a:rPr lang="zh-CN" sz="1100" kern="1200" dirty="0"/>
            <a:t>First basic adversarial training idea. </a:t>
          </a:r>
          <a:endParaRPr lang="zh-CN" altLang="en-US" sz="1100" kern="1200" dirty="0"/>
        </a:p>
      </dsp:txBody>
      <dsp:txXfrm>
        <a:off x="5546568" y="3209352"/>
        <a:ext cx="1490278" cy="1870530"/>
      </dsp:txXfrm>
    </dsp:sp>
    <dsp:sp modelId="{F079A2EF-C0DE-2648-90CA-275C60FDA728}">
      <dsp:nvSpPr>
        <dsp:cNvPr id="0" name=""/>
        <dsp:cNvSpPr/>
      </dsp:nvSpPr>
      <dsp:spPr>
        <a:xfrm>
          <a:off x="4018077" y="3380372"/>
          <a:ext cx="1528490" cy="152849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100" b="1" i="0" kern="1200" dirty="0"/>
            <a:t>Explaining and Harnessing Adversarial Examples </a:t>
          </a:r>
          <a:endParaRPr lang="en-US" altLang="zh-CN" sz="1100" b="1" i="0" kern="1200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700" b="1" kern="1200" dirty="0"/>
            <a:t>Goodfellow et al. (2015) </a:t>
          </a:r>
          <a:endParaRPr lang="zh-CN" altLang="en-US" sz="700" b="1" i="0" kern="1200" dirty="0"/>
        </a:p>
      </dsp:txBody>
      <dsp:txXfrm>
        <a:off x="4241919" y="3604214"/>
        <a:ext cx="1080806" cy="1080806"/>
      </dsp:txXfrm>
    </dsp:sp>
    <dsp:sp modelId="{78CF5539-A1F7-104B-AA59-784B525F1405}">
      <dsp:nvSpPr>
        <dsp:cNvPr id="0" name=""/>
        <dsp:cNvSpPr/>
      </dsp:nvSpPr>
      <dsp:spPr>
        <a:xfrm>
          <a:off x="8794610" y="2808524"/>
          <a:ext cx="3056981" cy="2672186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6985" rIns="13970" bIns="6985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100" kern="1200" dirty="0"/>
            <a:t>Robustness as min-max optimization. PGD = strongest first-order attack.</a:t>
          </a:r>
          <a:br>
            <a:rPr lang="zh-CN" sz="1100" kern="1200" dirty="0"/>
          </a:br>
          <a:r>
            <a:rPr lang="zh-CN" sz="1100" kern="1200" dirty="0"/>
            <a:t>PGD adversarial training is the</a:t>
          </a:r>
          <a:br>
            <a:rPr lang="zh-CN" sz="1100" kern="1200" dirty="0"/>
          </a:br>
          <a:r>
            <a:rPr lang="zh-CN" sz="1100" kern="1200" dirty="0"/>
            <a:t>gold standard defense. </a:t>
          </a:r>
          <a:endParaRPr lang="zh-CN" altLang="en-US" sz="1100" kern="1200" dirty="0"/>
        </a:p>
      </dsp:txBody>
      <dsp:txXfrm>
        <a:off x="9558856" y="3209352"/>
        <a:ext cx="1490278" cy="1870530"/>
      </dsp:txXfrm>
    </dsp:sp>
    <dsp:sp modelId="{288F7EDC-E660-754B-81EA-14097FF690BC}">
      <dsp:nvSpPr>
        <dsp:cNvPr id="0" name=""/>
        <dsp:cNvSpPr/>
      </dsp:nvSpPr>
      <dsp:spPr>
        <a:xfrm>
          <a:off x="8030365" y="3380372"/>
          <a:ext cx="1528490" cy="152849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100" i="0" kern="1200" dirty="0"/>
            <a:t>Towards Deep Learning Models Resistant to Adversarial Attacks </a:t>
          </a:r>
          <a:endParaRPr lang="en-US" altLang="zh-CN" sz="1100" i="0" kern="1200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700" b="1" kern="1200" dirty="0"/>
            <a:t>Madry et al. (2018) </a:t>
          </a:r>
          <a:endParaRPr lang="zh-CN" altLang="en-US" sz="700" kern="1200" dirty="0"/>
        </a:p>
      </dsp:txBody>
      <dsp:txXfrm>
        <a:off x="8254207" y="3604214"/>
        <a:ext cx="1080806" cy="10808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3D3743-9DC1-D744-BA4A-CC2A74020C4A}" type="datetimeFigureOut">
              <a:rPr kumimoji="1" lang="zh-CN" altLang="en-US" smtClean="0"/>
              <a:t>2026/6/8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2F880F-AE2A-9B4A-B0F5-AA30D964510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43074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2F880F-AE2A-9B4A-B0F5-AA30D964510D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541669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2F880F-AE2A-9B4A-B0F5-AA30D964510D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64518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756FB-E05E-443F-88A1-CFC9063899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4727" y="1597961"/>
            <a:ext cx="9144000" cy="316230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5DA97A-281B-4A77-9D2C-C5E6A860E6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4727" y="4902488"/>
            <a:ext cx="9144000" cy="985075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D7BAE-E194-4223-BB4E-5E487863F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6/8/26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1F6C9-7279-4DF8-9462-3EFEFA03F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57072-0A38-49AD-8D0D-0E42DD48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796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98199-C6CF-4DFF-A750-435F06CC7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2D5EB-F993-411F-9DBA-971321FC0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5D216-27F9-4078-8349-ABC9F614A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4F8A8-FBA7-4F25-ADEA-AF346495D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609F8-5897-4724-8FA6-3EFDE8F2D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470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C0F0C-7BA8-490D-B4C9-CCE145DCD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6" y="1709738"/>
            <a:ext cx="9143999" cy="3050523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290E61-B837-4BE4-9BC7-6AF706BCCA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4726" y="4902488"/>
            <a:ext cx="9143999" cy="9850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2E15F-E46D-44C6-9FB9-07B0BC545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F6955-3667-4857-B35A-9E12F7988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4B309-D15E-4FA1-9B8D-8C1F3B56C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950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219AB-91F9-4F80-9B5D-2E6FE925F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9F334-D0CF-4DFD-BAA9-3ECD639B1F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7362" y="2227809"/>
            <a:ext cx="4942438" cy="39491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5E0B5D-4613-4DA7-BA20-58B19BE8A4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227809"/>
            <a:ext cx="4855265" cy="39491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F311AB-0603-424D-BC42-0CEAB3562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3AA2AC-0C5F-4835-BE47-D780C2989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6C54C0-DFDA-4778-9EE8-5E5C30E05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661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F3603-5B09-4916-8324-A6BDAB4E0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6" y="365125"/>
            <a:ext cx="9942739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74073C-C15B-4218-9B84-6758955176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4725" y="1681163"/>
            <a:ext cx="491285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116D27-36F6-440B-A9BE-8B9499047C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84726" y="2505075"/>
            <a:ext cx="4912849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12010D-7AC4-4A70-A211-6A29274119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485526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AE85B5-3350-49A4-86A1-E5DAED4916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485526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73E874-D08B-4D81-B82D-5DF242E4A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6/8/26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174067-0FFA-41C3-A3A6-E8907CC32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947985-FBC0-4118-8877-2E327F637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848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E0282-3DE7-4AB9-83AC-AFEDD22AF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A7436C-706A-443F-86CD-4444C8281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6/8/26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B53292-7EA5-45D0-957F-636A44FC0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76F59D-34BB-462C-B506-040B9E982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503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E55245-AB52-41B4-9B28-55E6527DA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6/8/26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73B8AE-58B0-4FDF-8430-9D8D3DD53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E4D91-8619-43C1-841B-B5F47DE01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284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DA660-DF93-4947-B93F-BF118D3B5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7" y="457200"/>
            <a:ext cx="368729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0292E-B3E1-4FD6-A7FA-C165BAC21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5844277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FB0ECC-817B-4A71-AFB5-FC60A2BC3A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84727" y="2253343"/>
            <a:ext cx="3687298" cy="36156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788E0B-6135-4F59-A35A-2CA1A8BA4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0DEF36-4037-4E6D-988F-CC8E3F11C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5C0D2D-D878-4723-A002-5A601EFB4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859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C59D5-B8A1-4C9C-A61F-E082A4433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7" y="720433"/>
            <a:ext cx="3687298" cy="158733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CB4F5F-E6E7-45C3-B35C-80F81FB1A5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582771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633AB7-4F8E-4A9F-AC15-89E6A6E003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84727" y="2449286"/>
            <a:ext cx="3687298" cy="341970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74B526-866D-4E11-A7F9-081BD4EDF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758BF8-E962-4367-8495-62438FDD4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20AE1-C97D-4E6C-9DB2-B2904C2CF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907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89E81-5CFF-4A28-B9C8-5D54E51DF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8A4CC8-DCB0-4E94-98A7-236E3D1866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1F802-21C2-44B2-A419-55469D826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DB709-08FF-4C4A-8670-4CCA9146F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95375-1CC8-4950-8439-877451C42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789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E8BDF0-A155-454D-B3E2-AD15D0905A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73242" y="827313"/>
            <a:ext cx="2280557" cy="5061857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244E0D-96EC-4B35-BA5C-5DAFCC7281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27313"/>
            <a:ext cx="8115300" cy="506185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ADC4E-9FB1-439F-B0FB-47F47B342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EE406-061A-4440-BA75-3B684FC84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D93CF-F5F3-4897-A51E-47D577FDD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974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E192E3E-68A9-4F36-936C-1C8D0B9EF132}"/>
              </a:ext>
            </a:extLst>
          </p:cNvPr>
          <p:cNvSpPr/>
          <p:nvPr/>
        </p:nvSpPr>
        <p:spPr>
          <a:xfrm>
            <a:off x="8803792" y="345589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214EB0-7E6D-4536-9350-5CB688B56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2" y="720434"/>
            <a:ext cx="9950103" cy="1507376"/>
          </a:xfrm>
          <a:prstGeom prst="rect">
            <a:avLst/>
          </a:prstGeom>
        </p:spPr>
        <p:txBody>
          <a:bodyPr lIns="109728" tIns="109728" rIns="109728" bIns="91440"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5455E-4725-4924-BF7D-2E1FC9E39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7362" y="2427316"/>
            <a:ext cx="9950103" cy="3513514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AD9D9-1A1D-4438-9F3D-E5E58FD72F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43751" y="6356350"/>
            <a:ext cx="2296603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900" spc="100">
                <a:solidFill>
                  <a:schemeClr val="bg1"/>
                </a:solidFill>
              </a:defRPr>
            </a:lvl1pPr>
          </a:lstStyle>
          <a:p>
            <a:fld id="{8C28A28C-4C6A-46EA-90C0-4EE0B89CC5C7}" type="datetimeFigureOut">
              <a:rPr lang="en-US" smtClean="0"/>
              <a:pPr/>
              <a:t>6/8/26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0A827-D7BF-4CA4-8C29-5AE54ADA47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610380" y="1926575"/>
            <a:ext cx="3830351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900" spc="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17188-1DE1-4DA5-8161-21179E4ADE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0355" y="6356350"/>
            <a:ext cx="410973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900" spc="100">
                <a:solidFill>
                  <a:schemeClr val="bg1"/>
                </a:solidFill>
              </a:defRPr>
            </a:lvl1pPr>
          </a:lstStyle>
          <a:p>
            <a:fld id="{5DEF7F31-0B8A-474A-B86C-91F3817543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565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8" r:id="rId6"/>
    <p:sldLayoutId id="2147483743" r:id="rId7"/>
    <p:sldLayoutId id="2147483744" r:id="rId8"/>
    <p:sldLayoutId id="2147483745" r:id="rId9"/>
    <p:sldLayoutId id="2147483747" r:id="rId10"/>
    <p:sldLayoutId id="2147483746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3600" b="1" kern="1200" spc="22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1800" kern="1200" spc="12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25000"/>
        </a:lnSpc>
        <a:spcBef>
          <a:spcPts val="500"/>
        </a:spcBef>
        <a:buFontTx/>
        <a:buNone/>
        <a:defRPr sz="1600" b="1" kern="1200" spc="12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400" kern="1200" spc="120">
          <a:solidFill>
            <a:schemeClr val="tx1"/>
          </a:solidFill>
          <a:latin typeface="+mn-lt"/>
          <a:ea typeface="+mn-ea"/>
          <a:cs typeface="+mn-cs"/>
        </a:defRPr>
      </a:lvl3pPr>
      <a:lvl4pPr marL="594360" indent="0" algn="l" defTabSz="914400" rtl="0" eaLnBrk="1" latinLnBrk="0" hangingPunct="1">
        <a:lnSpc>
          <a:spcPct val="125000"/>
        </a:lnSpc>
        <a:spcBef>
          <a:spcPts val="500"/>
        </a:spcBef>
        <a:buFontTx/>
        <a:buNone/>
        <a:defRPr sz="1200" b="1" kern="1200" spc="12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200" kern="1200" spc="12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8">
            <a:extLst>
              <a:ext uri="{FF2B5EF4-FFF2-40B4-BE49-F238E27FC236}">
                <a16:creationId xmlns:a16="http://schemas.microsoft.com/office/drawing/2014/main" id="{2C729A30-F429-4967-81E8-45F6757C88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0">
            <a:extLst>
              <a:ext uri="{FF2B5EF4-FFF2-40B4-BE49-F238E27FC236}">
                <a16:creationId xmlns:a16="http://schemas.microsoft.com/office/drawing/2014/main" id="{19FC137C-7F97-41FA-86A1-2E01C3837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6967903" cy="68579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9FBFB9D3-7D34-4948-B4D0-73E7B6E52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 flipV="1">
            <a:off x="54949" y="-54949"/>
            <a:ext cx="6858005" cy="6967903"/>
          </a:xfrm>
          <a:custGeom>
            <a:avLst/>
            <a:gdLst>
              <a:gd name="connsiteX0" fmla="*/ 0 w 2559050"/>
              <a:gd name="connsiteY0" fmla="*/ 0 h 2559050"/>
              <a:gd name="connsiteX1" fmla="*/ 2559050 w 2559050"/>
              <a:gd name="connsiteY1" fmla="*/ 0 h 2559050"/>
              <a:gd name="connsiteX2" fmla="*/ 0 w 2559050"/>
              <a:gd name="connsiteY2" fmla="*/ 2559050 h 255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59050" h="2559050">
                <a:moveTo>
                  <a:pt x="0" y="0"/>
                </a:moveTo>
                <a:lnTo>
                  <a:pt x="2559050" y="0"/>
                </a:lnTo>
                <a:cubicBezTo>
                  <a:pt x="2559050" y="1413324"/>
                  <a:pt x="1413324" y="2559050"/>
                  <a:pt x="0" y="255905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C0F4623-88F4-B5C8-A1D5-2AE66F556B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4728" y="2754999"/>
            <a:ext cx="4348578" cy="20052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/>
              <a:t>Adversarial Defense via PGD-Based Adversarial Training</a:t>
            </a:r>
            <a:endParaRPr kumimoji="1"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EC6B0FF-9891-5EA6-7C26-2BCF8AEC02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4728" y="4902489"/>
            <a:ext cx="4348578" cy="985075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Sihan Yang</a:t>
            </a:r>
          </a:p>
          <a:p>
            <a:r>
              <a:rPr kumimoji="1" lang="en-US" altLang="zh-CN" dirty="0"/>
              <a:t>MSCS2201 Spring 2026</a:t>
            </a:r>
          </a:p>
        </p:txBody>
      </p:sp>
      <p:pic>
        <p:nvPicPr>
          <p:cNvPr id="16" name="Picture 3">
            <a:extLst>
              <a:ext uri="{FF2B5EF4-FFF2-40B4-BE49-F238E27FC236}">
                <a16:creationId xmlns:a16="http://schemas.microsoft.com/office/drawing/2014/main" id="{AEA51AE7-05CE-3F7B-95D6-56CF526B50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923" r="29453" b="2"/>
          <a:stretch>
            <a:fillRect/>
          </a:stretch>
        </p:blipFill>
        <p:spPr>
          <a:xfrm>
            <a:off x="6967903" y="-14"/>
            <a:ext cx="5236733" cy="6858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  <p:sp>
        <p:nvSpPr>
          <p:cNvPr id="6" name="圆角矩形 5">
            <a:extLst>
              <a:ext uri="{FF2B5EF4-FFF2-40B4-BE49-F238E27FC236}">
                <a16:creationId xmlns:a16="http://schemas.microsoft.com/office/drawing/2014/main" id="{B3622787-24E6-035F-6A99-127E68F7B67E}"/>
              </a:ext>
            </a:extLst>
          </p:cNvPr>
          <p:cNvSpPr/>
          <p:nvPr/>
        </p:nvSpPr>
        <p:spPr>
          <a:xfrm>
            <a:off x="7194560" y="139148"/>
            <a:ext cx="4770783" cy="582433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C31CFDE-0B2A-1ECA-3F5A-DC9BDE1A2441}"/>
              </a:ext>
            </a:extLst>
          </p:cNvPr>
          <p:cNvSpPr txBox="1"/>
          <p:nvPr/>
        </p:nvSpPr>
        <p:spPr>
          <a:xfrm>
            <a:off x="7290031" y="437322"/>
            <a:ext cx="473631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/>
              <a:t>Motivation: </a:t>
            </a:r>
          </a:p>
          <a:p>
            <a:r>
              <a:rPr kumimoji="1" lang="en-US" altLang="zh-CN" sz="2400" dirty="0"/>
              <a:t>A small perturbation negatively impacts the model accuracy, is there a way to make the model more robust?  </a:t>
            </a:r>
          </a:p>
          <a:p>
            <a:endParaRPr kumimoji="1" lang="en-US" altLang="zh-CN" sz="2400" dirty="0"/>
          </a:p>
          <a:p>
            <a:r>
              <a:rPr kumimoji="1" lang="en-US" altLang="zh-CN" sz="2400" b="1" dirty="0"/>
              <a:t>Main Idea:</a:t>
            </a:r>
          </a:p>
          <a:p>
            <a:r>
              <a:rPr kumimoji="1" lang="en-US" altLang="zh-CN" sz="2400" dirty="0"/>
              <a:t>Adversarial training using PGD generated training data.</a:t>
            </a:r>
          </a:p>
          <a:p>
            <a:endParaRPr kumimoji="1" lang="en-US" altLang="zh-CN" sz="2400" dirty="0"/>
          </a:p>
          <a:p>
            <a:r>
              <a:rPr kumimoji="1" lang="en-US" altLang="zh-CN" sz="2400" b="1" dirty="0"/>
              <a:t>Result:</a:t>
            </a:r>
          </a:p>
          <a:p>
            <a:endParaRPr kumimoji="1"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409199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73F1B9-14BD-38C4-D2DA-D38D0B844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2" y="720434"/>
            <a:ext cx="9950103" cy="422566"/>
          </a:xfrm>
        </p:spPr>
        <p:txBody>
          <a:bodyPr/>
          <a:lstStyle/>
          <a:p>
            <a:r>
              <a:rPr kumimoji="1" lang="en-US" altLang="zh-CN" dirty="0"/>
              <a:t>Literature Review</a:t>
            </a:r>
            <a:endParaRPr kumimoji="1" lang="zh-CN" altLang="en-US" dirty="0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652A3422-19AC-1B86-853A-4363D8ED6D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6271446"/>
              </p:ext>
            </p:extLst>
          </p:nvPr>
        </p:nvGraphicFramePr>
        <p:xfrm>
          <a:off x="159027" y="-1023731"/>
          <a:ext cx="11857382" cy="82892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53647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822BCE-2F99-860B-C7F3-B56071A7B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2" y="720434"/>
            <a:ext cx="9950103" cy="601470"/>
          </a:xfrm>
        </p:spPr>
        <p:txBody>
          <a:bodyPr/>
          <a:lstStyle/>
          <a:p>
            <a:r>
              <a:rPr kumimoji="1" lang="en-US" altLang="zh-CN" dirty="0"/>
              <a:t>Approach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75791E-5E86-2F25-0694-D13BA5D16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7362" y="1461052"/>
            <a:ext cx="9950103" cy="4479778"/>
          </a:xfrm>
        </p:spPr>
        <p:txBody>
          <a:bodyPr/>
          <a:lstStyle/>
          <a:p>
            <a:r>
              <a:rPr kumimoji="1" lang="en-US" altLang="zh-CN" dirty="0"/>
              <a:t>Dataset: MNIST</a:t>
            </a:r>
          </a:p>
          <a:p>
            <a:r>
              <a:rPr lang="zh-CN" altLang="zh-CN" dirty="0"/>
              <a:t>Model: small CNN</a:t>
            </a:r>
          </a:p>
          <a:p>
            <a:r>
              <a:rPr lang="zh-CN" altLang="zh-CN" dirty="0"/>
              <a:t>Eval attacks: FGSM + PGD (40 steps, α = ε/10)</a:t>
            </a:r>
          </a:p>
          <a:p>
            <a:r>
              <a:rPr lang="zh-CN" altLang="zh-CN" dirty="0"/>
              <a:t>Optimizer: Adam, lr = 1e-3</a:t>
            </a:r>
          </a:p>
          <a:p>
            <a:pPr marL="0" indent="0">
              <a:buNone/>
            </a:pPr>
            <a:endParaRPr kumimoji="1" lang="en-US" altLang="zh-CN" dirty="0"/>
          </a:p>
          <a:p>
            <a:endParaRPr kumimoji="1" lang="zh-CN" altLang="en-US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37CB6127-B624-979E-C25F-103E077460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6472330"/>
              </p:ext>
            </p:extLst>
          </p:nvPr>
        </p:nvGraphicFramePr>
        <p:xfrm>
          <a:off x="1164535" y="3582135"/>
          <a:ext cx="9440516" cy="25516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1141">
                  <a:extLst>
                    <a:ext uri="{9D8B030D-6E8A-4147-A177-3AD203B41FA5}">
                      <a16:colId xmlns:a16="http://schemas.microsoft.com/office/drawing/2014/main" val="1044449049"/>
                    </a:ext>
                  </a:extLst>
                </a:gridCol>
                <a:gridCol w="724794">
                  <a:extLst>
                    <a:ext uri="{9D8B030D-6E8A-4147-A177-3AD203B41FA5}">
                      <a16:colId xmlns:a16="http://schemas.microsoft.com/office/drawing/2014/main" val="2161587170"/>
                    </a:ext>
                  </a:extLst>
                </a:gridCol>
                <a:gridCol w="1797091">
                  <a:extLst>
                    <a:ext uri="{9D8B030D-6E8A-4147-A177-3AD203B41FA5}">
                      <a16:colId xmlns:a16="http://schemas.microsoft.com/office/drawing/2014/main" val="3442932913"/>
                    </a:ext>
                  </a:extLst>
                </a:gridCol>
                <a:gridCol w="1548873">
                  <a:extLst>
                    <a:ext uri="{9D8B030D-6E8A-4147-A177-3AD203B41FA5}">
                      <a16:colId xmlns:a16="http://schemas.microsoft.com/office/drawing/2014/main" val="3192914101"/>
                    </a:ext>
                  </a:extLst>
                </a:gridCol>
                <a:gridCol w="1042511">
                  <a:extLst>
                    <a:ext uri="{9D8B030D-6E8A-4147-A177-3AD203B41FA5}">
                      <a16:colId xmlns:a16="http://schemas.microsoft.com/office/drawing/2014/main" val="2402520554"/>
                    </a:ext>
                  </a:extLst>
                </a:gridCol>
                <a:gridCol w="3326106">
                  <a:extLst>
                    <a:ext uri="{9D8B030D-6E8A-4147-A177-3AD203B41FA5}">
                      <a16:colId xmlns:a16="http://schemas.microsoft.com/office/drawing/2014/main" val="1965604468"/>
                    </a:ext>
                  </a:extLst>
                </a:gridCol>
              </a:tblGrid>
              <a:tr h="59006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b="1" dirty="0">
                          <a:effectLst/>
                        </a:rPr>
                        <a:t>Iteration</a:t>
                      </a: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b="1">
                          <a:effectLst/>
                        </a:rPr>
                        <a:t>ε</a:t>
                      </a: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b="1" dirty="0">
                          <a:effectLst/>
                        </a:rPr>
                        <a:t>PGD train steps</a:t>
                      </a: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b="1">
                          <a:effectLst/>
                        </a:rPr>
                        <a:t>Step size α</a:t>
                      </a: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b="1">
                          <a:effectLst/>
                        </a:rPr>
                        <a:t>Epochs</a:t>
                      </a: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b="1">
                          <a:effectLst/>
                        </a:rPr>
                        <a:t>Notes</a:t>
                      </a:r>
                    </a:p>
                  </a:txBody>
                  <a:tcPr marL="85725" marR="85725" marT="47625" marB="47625"/>
                </a:tc>
                <a:extLst>
                  <a:ext uri="{0D108BD9-81ED-4DB2-BD59-A6C34878D82A}">
                    <a16:rowId xmlns:a16="http://schemas.microsoft.com/office/drawing/2014/main" val="3528227547"/>
                  </a:ext>
                </a:extLst>
              </a:tr>
              <a:tr h="556848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 b="1">
                          <a:effectLst/>
                        </a:rPr>
                        <a:t>iter1</a:t>
                      </a:r>
                      <a:endParaRPr lang="zh-CN">
                        <a:effectLst/>
                      </a:endParaRP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 dirty="0">
                          <a:effectLst/>
                        </a:rPr>
                        <a:t>0.3</a:t>
                      </a: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>
                          <a:effectLst/>
                        </a:rPr>
                        <a:t>7</a:t>
                      </a: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>
                          <a:effectLst/>
                        </a:rPr>
                        <a:t>0.01</a:t>
                      </a: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>
                          <a:effectLst/>
                        </a:rPr>
                        <a:t>10</a:t>
                      </a: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>
                          <a:effectLst/>
                        </a:rPr>
                        <a:t>default baseline</a:t>
                      </a:r>
                    </a:p>
                  </a:txBody>
                  <a:tcPr marL="85725" marR="85725" marT="47625" marB="47625"/>
                </a:tc>
                <a:extLst>
                  <a:ext uri="{0D108BD9-81ED-4DB2-BD59-A6C34878D82A}">
                    <a16:rowId xmlns:a16="http://schemas.microsoft.com/office/drawing/2014/main" val="3579130953"/>
                  </a:ext>
                </a:extLst>
              </a:tr>
              <a:tr h="556848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 b="1">
                          <a:effectLst/>
                        </a:rPr>
                        <a:t>iter2</a:t>
                      </a:r>
                      <a:endParaRPr lang="zh-CN">
                        <a:effectLst/>
                      </a:endParaRP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>
                          <a:effectLst/>
                        </a:rPr>
                        <a:t>0.3</a:t>
                      </a: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>
                          <a:effectLst/>
                        </a:rPr>
                        <a:t>20</a:t>
                      </a: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>
                          <a:effectLst/>
                        </a:rPr>
                        <a:t>0.03 (ε/10)</a:t>
                      </a: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>
                          <a:effectLst/>
                        </a:rPr>
                        <a:t>20</a:t>
                      </a: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>
                          <a:effectLst/>
                        </a:rPr>
                        <a:t>stronger PGD training</a:t>
                      </a:r>
                    </a:p>
                  </a:txBody>
                  <a:tcPr marL="85725" marR="85725" marT="47625" marB="47625"/>
                </a:tc>
                <a:extLst>
                  <a:ext uri="{0D108BD9-81ED-4DB2-BD59-A6C34878D82A}">
                    <a16:rowId xmlns:a16="http://schemas.microsoft.com/office/drawing/2014/main" val="2415798557"/>
                  </a:ext>
                </a:extLst>
              </a:tr>
              <a:tr h="794085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 b="1">
                          <a:effectLst/>
                        </a:rPr>
                        <a:t>iter3</a:t>
                      </a:r>
                      <a:endParaRPr lang="zh-CN">
                        <a:effectLst/>
                      </a:endParaRP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>
                          <a:effectLst/>
                        </a:rPr>
                        <a:t>0.2</a:t>
                      </a: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 dirty="0">
                          <a:effectLst/>
                        </a:rPr>
                        <a:t>20</a:t>
                      </a: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>
                          <a:effectLst/>
                        </a:rPr>
                        <a:t>0.02 (ε/10)</a:t>
                      </a: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>
                          <a:effectLst/>
                        </a:rPr>
                        <a:t>20</a:t>
                      </a: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 dirty="0">
                          <a:effectLst/>
                        </a:rPr>
                        <a:t>smaller perturbation budget</a:t>
                      </a:r>
                    </a:p>
                  </a:txBody>
                  <a:tcPr marL="85725" marR="85725" marT="47625" marB="47625"/>
                </a:tc>
                <a:extLst>
                  <a:ext uri="{0D108BD9-81ED-4DB2-BD59-A6C34878D82A}">
                    <a16:rowId xmlns:a16="http://schemas.microsoft.com/office/drawing/2014/main" val="2360167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138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E192E3E-68A9-4F36-936C-1C8D0B9EF1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3792" y="345589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98D6E90-577B-4973-B60A-2700290E68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D5FAEF1-FBDD-F9BC-9518-99E9C7B00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617" y="266700"/>
            <a:ext cx="2628969" cy="316230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sz="2400" dirty="0"/>
              <a:t>Results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FA95682-BEE6-4B33-BA34-7E7BE49782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3792" y="345589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F766135E-2E4C-15A6-52D4-82A3220EAB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6130" y="745652"/>
            <a:ext cx="4861426" cy="271024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FFD5CEF-CB72-C808-2772-4140587ADD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8438"/>
          <a:stretch>
            <a:fillRect/>
          </a:stretch>
        </p:blipFill>
        <p:spPr>
          <a:xfrm>
            <a:off x="5433685" y="707879"/>
            <a:ext cx="6355693" cy="476516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433D946-B9D2-B5F0-9E5B-11E837DEEA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627" y="3876261"/>
            <a:ext cx="4771917" cy="226777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C068151F-DEC6-6DE3-74C2-FD01A42A21C9}"/>
              </a:ext>
            </a:extLst>
          </p:cNvPr>
          <p:cNvSpPr txBox="1"/>
          <p:nvPr/>
        </p:nvSpPr>
        <p:spPr>
          <a:xfrm>
            <a:off x="1216287" y="3505099"/>
            <a:ext cx="3538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Iter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2: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Robustness vs. epsilon</a:t>
            </a:r>
            <a:endParaRPr kumimoji="1"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235076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54F57F-DB4D-03DA-5675-E5E442F6E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Reference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5B169A-E647-9D9D-6844-8F24C9A16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b="1" dirty="0"/>
              <a:t>[1]  </a:t>
            </a:r>
            <a:r>
              <a:rPr lang="zh-CN" altLang="zh-CN" dirty="0"/>
              <a:t>Szegedy, C. et al. (2014). Intriguing properties of neural networks. ICLR 2014. arxiv.org/abs/1312.6199 </a:t>
            </a:r>
          </a:p>
          <a:p>
            <a:r>
              <a:rPr lang="zh-CN" altLang="zh-CN" b="1" dirty="0"/>
              <a:t>[2]  </a:t>
            </a:r>
            <a:r>
              <a:rPr lang="zh-CN" altLang="zh-CN" dirty="0"/>
              <a:t>Goodfellow, I., Shlens, J., &amp; Szegedy, C. (2015). Explaining and harnessing adversarial examples. ICLR 2015. arxiv.org/abs/1412.6572 </a:t>
            </a:r>
          </a:p>
          <a:p>
            <a:r>
              <a:rPr lang="zh-CN" altLang="zh-CN" b="1" dirty="0"/>
              <a:t>[3]  </a:t>
            </a:r>
            <a:r>
              <a:rPr lang="zh-CN" altLang="zh-CN" dirty="0"/>
              <a:t>Madry, A. et al. (2018). Towards deep learning models resistant to adversarial attacks. ICLR 2018. arxiv.org/abs/1706.06083 </a:t>
            </a:r>
          </a:p>
        </p:txBody>
      </p:sp>
    </p:spTree>
    <p:extLst>
      <p:ext uri="{BB962C8B-B14F-4D97-AF65-F5344CB8AC3E}">
        <p14:creationId xmlns:p14="http://schemas.microsoft.com/office/powerpoint/2010/main" val="2527611527"/>
      </p:ext>
    </p:extLst>
  </p:cSld>
  <p:clrMapOvr>
    <a:masterClrMapping/>
  </p:clrMapOvr>
</p:sld>
</file>

<file path=ppt/theme/theme1.xml><?xml version="1.0" encoding="utf-8"?>
<a:theme xmlns:a="http://schemas.openxmlformats.org/drawingml/2006/main" name="BlocksVTI">
  <a:themeElements>
    <a:clrScheme name="Blocks">
      <a:dk1>
        <a:sysClr val="windowText" lastClr="000000"/>
      </a:dk1>
      <a:lt1>
        <a:sysClr val="window" lastClr="FFFFFF"/>
      </a:lt1>
      <a:dk2>
        <a:srgbClr val="1B3843"/>
      </a:dk2>
      <a:lt2>
        <a:srgbClr val="F2F3F1"/>
      </a:lt2>
      <a:accent1>
        <a:srgbClr val="7A8592"/>
      </a:accent1>
      <a:accent2>
        <a:srgbClr val="8C8C96"/>
      </a:accent2>
      <a:accent3>
        <a:srgbClr val="7A6C76"/>
      </a:accent3>
      <a:accent4>
        <a:srgbClr val="A7AA9D"/>
      </a:accent4>
      <a:accent5>
        <a:srgbClr val="63787F"/>
      </a:accent5>
      <a:accent6>
        <a:srgbClr val="889DA5"/>
      </a:accent6>
      <a:hlink>
        <a:srgbClr val="71819B"/>
      </a:hlink>
      <a:folHlink>
        <a:srgbClr val="7E8B85"/>
      </a:folHlink>
    </a:clrScheme>
    <a:fontScheme name="Avenir">
      <a:majorFont>
        <a:latin typeface="Microsoft YaHei"/>
        <a:ea typeface=""/>
        <a:cs typeface=""/>
      </a:majorFont>
      <a:minorFont>
        <a:latin typeface="Microsoft YaHe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sVTI" id="{31656FE6-20D8-4105-85EA-706EC9332BE9}" vid="{039DFFC9-9B25-4063-9235-B287A446F509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2994</TotalTime>
  <Words>340</Words>
  <Application>Microsoft Macintosh PowerPoint</Application>
  <PresentationFormat>宽屏</PresentationFormat>
  <Paragraphs>56</Paragraphs>
  <Slides>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等线</vt:lpstr>
      <vt:lpstr>Microsoft YaHei</vt:lpstr>
      <vt:lpstr>Microsoft YaHei Light</vt:lpstr>
      <vt:lpstr>Arial</vt:lpstr>
      <vt:lpstr>BlocksVTI</vt:lpstr>
      <vt:lpstr>Adversarial Defense via PGD-Based Adversarial Training</vt:lpstr>
      <vt:lpstr>Literature Review</vt:lpstr>
      <vt:lpstr>Approach</vt:lpstr>
      <vt:lpstr>Results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Sihan Yang</dc:creator>
  <cp:lastModifiedBy>Sihan Yang</cp:lastModifiedBy>
  <cp:revision>3</cp:revision>
  <dcterms:created xsi:type="dcterms:W3CDTF">2026-06-09T06:06:01Z</dcterms:created>
  <dcterms:modified xsi:type="dcterms:W3CDTF">2026-06-11T08:00:07Z</dcterms:modified>
</cp:coreProperties>
</file>